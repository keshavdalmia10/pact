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PACT — Protocols for Agent Coordination in Trading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0BBDD"/>
                </a:solidFill>
                <a:latin typeface="Calibri"/>
              </a:rPr>
              <a:t>A Coordination-and-Attribution Study of Multi-Agent LLM Trading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743200"/>
            <a:ext cx="1828800" cy="45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88036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Calibri"/>
              </a:rPr>
              <a:t>Keshav Dalmia · Prateek Verma · Drumil Mehta · Tasnia Islam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0BBDD"/>
                </a:solidFill>
                <a:latin typeface="Calibri"/>
              </a:rPr>
              <a:t>Gies College of Business · University of Illinois Urbana-Champaign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0BBDD"/>
                </a:solidFill>
                <a:latin typeface="Calibri"/>
              </a:rPr>
              <a:t>Master's Project — Track 4 (Coordination &amp; Attribution Research)  ·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0BBDD"/>
                </a:solidFill>
                <a:latin typeface="Calibri"/>
              </a:rPr>
              <a:t>Code: github.com/keshavdalmia10/PACT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Multi-agent LLM trading systems report Sharpe &gt; 6 — but rarely test against the no-communication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>
                <a:solidFill>
                  <a:srgbClr val="2D2D2D"/>
                </a:solidFill>
                <a:latin typeface="Calibri"/>
              </a:rPr>
              <a:t>• TradingAgents (2024):</a:t>
            </a:r>
            <a:r>
              <a:rPr sz="1800">
                <a:solidFill>
                  <a:srgbClr val="2D2D2D"/>
                </a:solidFill>
                <a:latin typeface="Calibri"/>
              </a:rPr>
              <a:t> debate-style, Sharpe 6+ on a 3-month, 5-stock window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>
                <a:solidFill>
                  <a:srgbClr val="2D2D2D"/>
                </a:solidFill>
                <a:latin typeface="Calibri"/>
              </a:rPr>
              <a:t>• FinCon, FinMem, HedgeAgents, MarketSenseAI 2.0:</a:t>
            </a:r>
            <a:r>
              <a:rPr sz="1800">
                <a:solidFill>
                  <a:srgbClr val="2D2D2D"/>
                </a:solidFill>
                <a:latin typeface="Calibri"/>
              </a:rPr>
              <a:t> each proposes one architecture, reports one strong number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>
                <a:solidFill>
                  <a:srgbClr val="2D2D2D"/>
                </a:solidFill>
                <a:latin typeface="Calibri"/>
              </a:rPr>
              <a:t>• FINSABER (2025):</a:t>
            </a:r>
            <a:r>
              <a:rPr sz="1800">
                <a:solidFill>
                  <a:srgbClr val="2D2D2D"/>
                </a:solidFill>
                <a:latin typeface="Calibri"/>
              </a:rPr>
              <a:t> simple ARIMA / rule-based timing competes with LLM agents on long horizons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>
                <a:solidFill>
                  <a:srgbClr val="2D2D2D"/>
                </a:solidFill>
                <a:latin typeface="Calibri"/>
              </a:rPr>
              <a:t>• Stop Overvaluing MAD (2025):</a:t>
            </a:r>
            <a:r>
              <a:rPr sz="1800">
                <a:solidFill>
                  <a:srgbClr val="2D2D2D"/>
                </a:solidFill>
                <a:latin typeface="Calibri"/>
              </a:rPr>
              <a:t> multi-agent debate gains evaporate under proper baselines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800" b="1">
                <a:solidFill>
                  <a:srgbClr val="2D2D2D"/>
                </a:solidFill>
                <a:latin typeface="Calibri"/>
              </a:rPr>
              <a:t>• CPH taxonomy (2026):</a:t>
            </a:r>
            <a:r>
              <a:rPr sz="1800">
                <a:solidFill>
                  <a:srgbClr val="2D2D2D"/>
                </a:solidFill>
                <a:latin typeface="Calibri"/>
              </a:rPr>
              <a:t> calls for direct comparison of coordinated vs no-communication ensembles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Xiao et al. (2024); Yu et al. (2024); Li et al. (2025); Zhang et al. (2025); Nguyen and Pham (2026).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We ask: does coordination add value beyond a no-communication ensemble of the same specialists?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7315200" cy="1554480"/>
          </a:xfrm>
          <a:prstGeom prst="roundRect">
            <a:avLst/>
          </a:prstGeom>
          <a:solidFill>
            <a:srgbClr val="EBF3FA"/>
          </a:solidFill>
          <a:ln w="1587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91440" bIns="91440" wrap="square"/>
          <a:lstStyle/>
          <a:p>
            <a:pPr algn="ctr"/>
            <a:r>
              <a:rPr sz="1800" b="1">
                <a:solidFill>
                  <a:srgbClr val="1F4E79"/>
                </a:solidFill>
                <a:latin typeface="Calibri"/>
              </a:rPr>
              <a:t>Does multi-agent coordination in LLM trading systems
add value beyond a single-agent baseline and a no-communication
ensemble of the same specialists, after controlling for transaction
costs and lookahead bias?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700" b="1">
                <a:solidFill>
                  <a:srgbClr val="2D2D2D"/>
                </a:solidFill>
                <a:latin typeface="Calibri"/>
              </a:rPr>
              <a:t>• H1:</a:t>
            </a:r>
            <a:r>
              <a:rPr sz="1700">
                <a:solidFill>
                  <a:srgbClr val="2D2D2D"/>
                </a:solidFill>
                <a:latin typeface="Calibri"/>
              </a:rPr>
              <a:t> coordinated multi-agent &gt; no-communication ensemble (net of cost)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700" b="1">
                <a:solidFill>
                  <a:srgbClr val="2D2D2D"/>
                </a:solidFill>
                <a:latin typeface="Calibri"/>
              </a:rPr>
              <a:t>• H4:</a:t>
            </a:r>
            <a:r>
              <a:rPr sz="1700">
                <a:solidFill>
                  <a:srgbClr val="2D2D2D"/>
                </a:solidFill>
                <a:latin typeface="Calibri"/>
              </a:rPr>
              <a:t> attention + event-probability alt-data improves Sharpe by ≥ 0.05 (frontier)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700" b="1">
                <a:solidFill>
                  <a:srgbClr val="2D2D2D"/>
                </a:solidFill>
                <a:latin typeface="Calibri"/>
              </a:rPr>
              <a:t>• H5:</a:t>
            </a:r>
            <a:r>
              <a:rPr sz="1700">
                <a:solidFill>
                  <a:srgbClr val="2D2D2D"/>
                </a:solidFill>
                <a:latin typeface="Calibri"/>
              </a:rPr>
              <a:t> removing one specialist changes Sharpe by ≥ 0.10 for at least one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Pre-registered on the Open Science Framework before running the headline matrix.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PACT runs a 7 × 2 ablation across coordination protocols and LLM regimes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ordination_protoc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68580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188720"/>
            <a:ext cx="14630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2D2D2D"/>
                </a:solidFill>
                <a:latin typeface="Calibri"/>
              </a:rPr>
              <a:t>• 7 protocols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2D2D2D"/>
                </a:solidFill>
                <a:latin typeface="Calibri"/>
              </a:rPr>
              <a:t>• × 2 LLM regimes
   (frontier / none)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2D2D2D"/>
                </a:solidFill>
                <a:latin typeface="Calibri"/>
              </a:rPr>
              <a:t>• × 10-instrument
   universe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2D2D2D"/>
                </a:solidFill>
                <a:latin typeface="Calibri"/>
              </a:rPr>
              <a:t>• × weekly rebal
   2022-2024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Specialist agents in blue; LLM steps red; aggregators gold; deterministic rules grey; final views green.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Cross-asset universe with strict leakage controls and rolling walk-forward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E75B6"/>
                </a:solidFill>
                <a:latin typeface="Calibri"/>
              </a:rPr>
              <a:t>Universe (10 instruments)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4023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D2D2D"/>
                </a:solidFill>
                <a:latin typeface="Calibri"/>
              </a:rPr>
              <a:t>• Equities: SPY, QQQ, IWM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D2D2D"/>
                </a:solidFill>
                <a:latin typeface="Calibri"/>
              </a:rPr>
              <a:t>• Treasuries: IEF, SHY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D2D2D"/>
                </a:solidFill>
                <a:latin typeface="Calibri"/>
              </a:rPr>
              <a:t>• Commodities: GLD, USO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0">
                <a:solidFill>
                  <a:srgbClr val="2D2D2D"/>
                </a:solidFill>
                <a:latin typeface="Calibri"/>
              </a:rPr>
              <a:t>• FX / EM / BTC: UUP, EEM, BTC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1887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E75B6"/>
                </a:solidFill>
                <a:latin typeface="Calibri"/>
              </a:rPr>
              <a:t>Leakage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554480"/>
            <a:ext cx="40233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• ALFRED:</a:t>
            </a:r>
            <a:r>
              <a:rPr sz="1500">
                <a:solidFill>
                  <a:srgbClr val="2D2D2D"/>
                </a:solidFill>
                <a:latin typeface="Calibri"/>
              </a:rPr>
              <a:t> first-release vintages only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• EDGAR:</a:t>
            </a:r>
            <a:r>
              <a:rPr sz="1500">
                <a:solidFill>
                  <a:srgbClr val="2D2D2D"/>
                </a:solidFill>
                <a:latin typeface="Calibri"/>
              </a:rPr>
              <a:t> 17:30-ET cutoff rule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• GDELT:</a:t>
            </a:r>
            <a:r>
              <a:rPr sz="1500">
                <a:solidFill>
                  <a:srgbClr val="2D2D2D"/>
                </a:solidFill>
                <a:latin typeface="Calibri"/>
              </a:rPr>
              <a:t> 30-minute intraday lag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• Wikipedia / Polymarket:</a:t>
            </a:r>
            <a:r>
              <a:rPr sz="1500">
                <a:solidFill>
                  <a:srgbClr val="2D2D2D"/>
                </a:solidFill>
                <a:latin typeface="Calibri"/>
              </a:rPr>
              <a:t> 48-hour lag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2D2D2D"/>
                </a:solidFill>
                <a:latin typeface="Calibri"/>
              </a:rPr>
              <a:t>• ChronoGPT:</a:t>
            </a:r>
            <a:r>
              <a:rPr sz="1500">
                <a:solidFill>
                  <a:srgbClr val="2D2D2D"/>
                </a:solidFill>
                <a:latin typeface="Calibri"/>
              </a:rPr>
              <a:t> year-pinned commit SHA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Walk-forward: rolling 3-year IS / 6-month OOS; $1M capital; 30 bps round-trip; weekly Friday rebalance.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No frontier-LLM coordination protocol beats Sharpe 0; the best LLM cell is the no-communication ensemble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eadline_sharp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1206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1097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E75B6"/>
                </a:solidFill>
                <a:latin typeface="Calibri"/>
              </a:rPr>
              <a:t>What to take 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463040"/>
            <a:ext cx="3200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• Best frontier:</a:t>
            </a:r>
            <a:r>
              <a:rPr sz="1400">
                <a:solidFill>
                  <a:srgbClr val="2D2D2D"/>
                </a:solidFill>
                <a:latin typeface="Calibri"/>
              </a:rPr>
              <a:t> ind. ensemble at −0.13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• Every coord. protocol:</a:t>
            </a:r>
            <a:r>
              <a:rPr sz="1400">
                <a:solidFill>
                  <a:srgbClr val="2D2D2D"/>
                </a:solidFill>
                <a:latin typeface="Calibri"/>
              </a:rPr>
              <a:t> below the ensemble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• Best matrix overall:</a:t>
            </a:r>
            <a:r>
              <a:rPr sz="1400">
                <a:solidFill>
                  <a:srgbClr val="2D2D2D"/>
                </a:solidFill>
                <a:latin typeface="Calibri"/>
              </a:rPr>
              <a:t> none + debate at +0.27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• H1 rejected</a:t>
            </a:r>
            <a:r>
              <a:rPr sz="1400">
                <a:solidFill>
                  <a:srgbClr val="2D2D2D"/>
                </a:solidFill>
                <a:latin typeface="Calibri"/>
              </a:rPr>
              <a:t> in this window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Window B 2022-2024, 10 instruments, with +instrument alt-data variant active.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Four passive benchmarks outperform every cell in the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enchmarks_v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F4E79"/>
                </a:solidFill>
                <a:latin typeface="Calibri"/>
              </a:rPr>
              <a:t>A one-line inverse-volatility weighting of the same universe (Sharpe 0.62) beats every matrix cell.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Same Window B universe; no LLM, alt-data, or fundamentals signal — passive constructions on price data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Narrative agent hurts most (Δ = −0.28); macro regime helps most (+0.34)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ttribu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30352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52160" y="10972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E75B6"/>
                </a:solidFill>
                <a:latin typeface="Calibri"/>
              </a:rPr>
              <a:t>Per-agent LOO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463040"/>
            <a:ext cx="3017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• narrative_event:</a:t>
            </a:r>
            <a:r>
              <a:rPr sz="1400">
                <a:solidFill>
                  <a:srgbClr val="2D2D2D"/>
                </a:solidFill>
                <a:latin typeface="Calibri"/>
              </a:rPr>
              <a:t> −0.28 (hurts)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• macro_regime:</a:t>
            </a:r>
            <a:r>
              <a:rPr sz="1400">
                <a:solidFill>
                  <a:srgbClr val="2D2D2D"/>
                </a:solidFill>
                <a:latin typeface="Calibri"/>
              </a:rPr>
              <a:t> +0.34 (helps)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• technical_trend:</a:t>
            </a:r>
            <a:r>
              <a:rPr sz="1400">
                <a:solidFill>
                  <a:srgbClr val="2D2D2D"/>
                </a:solidFill>
                <a:latin typeface="Calibri"/>
              </a:rPr>
              <a:t> +0.23 (helps)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400" b="1">
                <a:solidFill>
                  <a:srgbClr val="2D2D2D"/>
                </a:solidFill>
                <a:latin typeface="Calibri"/>
              </a:rPr>
              <a:t>• risk_correlation:</a:t>
            </a:r>
            <a:r>
              <a:rPr sz="1400">
                <a:solidFill>
                  <a:srgbClr val="2D2D2D"/>
                </a:solidFill>
                <a:latin typeface="Calibri"/>
              </a:rPr>
              <a:t> 0 (scaling-only)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LOO on b__frontier__sequential_pipeline; Sharpe(full) = −0.4447 reproduces the matrix-run cell.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Attention data adds Sharpe (+0.13); instrument-specific alt-data does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tdata_del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731520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5 variants × 2 protocols × frontier regime; deltas vs text_only baseline. None matters in regime=none.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All differences significant at FDR 5%, but bootstrap CIs and sub-period instability flag short-sample uncertainty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c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0" y="1097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E75B6"/>
                </a:solidFill>
                <a:latin typeface="Calibri"/>
              </a:rPr>
              <a:t>Statistical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463040"/>
            <a:ext cx="3200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• LW Sharpe test:</a:t>
            </a:r>
            <a:r>
              <a:rPr sz="1300">
                <a:solidFill>
                  <a:srgbClr val="2D2D2D"/>
                </a:solidFill>
                <a:latin typeface="Calibri"/>
              </a:rPr>
              <a:t> 12/12 reject H₀ at FDR 5%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• Bootstrap 95% CIs:</a:t>
            </a:r>
            <a:r>
              <a:rPr sz="1300">
                <a:solidFill>
                  <a:srgbClr val="2D2D2D"/>
                </a:solidFill>
                <a:latin typeface="Calibri"/>
              </a:rPr>
              <a:t> wide; span 0 for most cells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• Sub-period:</a:t>
            </a:r>
            <a:r>
              <a:rPr sz="1300">
                <a:solidFill>
                  <a:srgbClr val="2D2D2D"/>
                </a:solidFill>
                <a:latin typeface="Calibri"/>
              </a:rPr>
              <a:t> no-LLM cells flip sign 2022 → 2023-24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 b="1">
                <a:solidFill>
                  <a:srgbClr val="2D2D2D"/>
                </a:solidFill>
                <a:latin typeface="Calibri"/>
              </a:rPr>
              <a:t>• Cost sensitivity:</a:t>
            </a:r>
            <a:r>
              <a:rPr sz="1300">
                <a:solidFill>
                  <a:srgbClr val="2D2D2D"/>
                </a:solidFill>
                <a:latin typeface="Calibri"/>
              </a:rPr>
              <a:t> all but ind. ensemble negative ≥ 30 bps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Ledoit-Wolf (2008) HAC + Benjamini-Hochberg (1995) FDR; Politis-Romano (1994) block bootstrap.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4E79"/>
                </a:solidFill>
                <a:latin typeface="Calibri"/>
              </a:rPr>
              <a:t>The architecture that benefits from LLM is the one that does NOT coordinate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228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2D2D2D"/>
                </a:solidFill>
                <a:latin typeface="Calibri"/>
              </a:rPr>
              <a:t>• Parallel filter &gt; coordination substrate:</a:t>
            </a:r>
            <a:r>
              <a:rPr sz="1700">
                <a:solidFill>
                  <a:srgbClr val="2D2D2D"/>
                </a:solidFill>
                <a:latin typeface="Calibri"/>
              </a:rPr>
              <a:t> ind. ensemble + LLM is the only frontier cell where adding LLM helps (Δ = +0.24)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2D2D2D"/>
                </a:solidFill>
                <a:latin typeface="Calibri"/>
              </a:rPr>
              <a:t>• Cascading context amplifies disagreement:</a:t>
            </a:r>
            <a:r>
              <a:rPr sz="1700">
                <a:solidFill>
                  <a:srgbClr val="2D2D2D"/>
                </a:solidFill>
                <a:latin typeface="Calibri"/>
              </a:rPr>
              <a:t> sequential and hierarchical generate more turnover, no extra return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2D2D2D"/>
                </a:solidFill>
                <a:latin typeface="Calibri"/>
              </a:rPr>
              <a:t>• Narrative LLM in volatile macro regimes:</a:t>
            </a:r>
            <a:r>
              <a:rPr sz="1700">
                <a:solidFill>
                  <a:srgbClr val="2D2D2D"/>
                </a:solidFill>
                <a:latin typeface="Calibri"/>
              </a:rPr>
              <a:t> GDELT-driven sentiment lagged price action at every Fed pivot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2D2D2D"/>
                </a:solidFill>
                <a:latin typeface="Calibri"/>
              </a:rPr>
              <a:t>• FINSABER alignment:</a:t>
            </a:r>
            <a:r>
              <a:rPr sz="1700">
                <a:solidFill>
                  <a:srgbClr val="2D2D2D"/>
                </a:solidFill>
                <a:latin typeface="Calibri"/>
              </a:rPr>
              <a:t> simple beats complex on this window's risk-adjusted metrics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00" b="1">
                <a:solidFill>
                  <a:srgbClr val="2D2D2D"/>
                </a:solidFill>
                <a:latin typeface="Calibri"/>
              </a:rPr>
              <a:t>• Practical implication:</a:t>
            </a:r>
            <a:r>
              <a:rPr sz="1700">
                <a:solidFill>
                  <a:srgbClr val="2D2D2D"/>
                </a:solidFill>
                <a:latin typeface="Calibri"/>
              </a:rPr>
              <a:t> always run the no-communication baseline and a passive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7D"/>
                </a:solidFill>
                <a:latin typeface="Calibri"/>
              </a:rPr>
              <a:t>FINSABER: Li et al. (2025); Stop Overvaluing MAD: Zhang et al. (2025).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A0BBDD"/>
                </a:solidFill>
                <a:latin typeface="Calibri"/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• 1. H1 rejected on Window B:</a:t>
            </a:r>
            <a:r>
              <a:rPr sz="1800">
                <a:solidFill>
                  <a:srgbClr val="FFFFFF"/>
                </a:solidFill>
                <a:latin typeface="Calibri"/>
              </a:rPr>
              <a:t> every coordinated frontier protocol underperforms the no-communication ensemble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• 2. Passive beats every cell:</a:t>
            </a:r>
            <a:r>
              <a:rPr sz="1800">
                <a:solidFill>
                  <a:srgbClr val="FFFFFF"/>
                </a:solidFill>
                <a:latin typeface="Calibri"/>
              </a:rPr>
              <a:t> inverse-vol (0.62), SPY BAH (0.50), 60/40 (0.34) all &gt; best matrix cell (0.27)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• 3. Narrative-LLM combination hurts:</a:t>
            </a:r>
            <a:r>
              <a:rPr sz="1800">
                <a:solidFill>
                  <a:srgbClr val="FFFFFF"/>
                </a:solidFill>
                <a:latin typeface="Calibri"/>
              </a:rPr>
              <a:t> removing the GDELT-driven narrative agent improves Sharpe by +0.28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• 4. Attention data is the most useful alt-data axis:</a:t>
            </a:r>
            <a:r>
              <a:rPr sz="1800">
                <a:solidFill>
                  <a:srgbClr val="FFFFFF"/>
                </a:solidFill>
                <a:latin typeface="Calibri"/>
              </a:rPr>
              <a:t> +0.13 on sequential_pipeline; instrument-specific alt-data ≈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3484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0BBDD"/>
                </a:solidFill>
                <a:latin typeface="Calibri"/>
              </a:rPr>
              <a:t>github.com/keshavdalmia10/PACT  ·  dalmia4@illinois.edu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0BBDD"/>
                </a:solidFill>
                <a:latin typeface="Calibri"/>
              </a:rPr>
              <a:t>Open dataset · pinned model SHAs · all caches reproducible bit-for-bit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